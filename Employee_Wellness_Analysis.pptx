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5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6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7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8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134</c:v>
                </c:pt>
                <c:pt idx="1">
                  <c:v>301</c:v>
                </c:pt>
                <c:pt idx="2">
                  <c:v>292</c:v>
                </c:pt>
                <c:pt idx="3">
                  <c:v>172</c:v>
                </c:pt>
                <c:pt idx="4">
                  <c:v>89</c:v>
                </c:pt>
                <c:pt idx="5">
                  <c:v>27</c:v>
                </c:pt>
                <c:pt idx="6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145160768"/>
        <c:axId val="1144952352"/>
      </c:barChart>
      <c:catAx>
        <c:axId val="1145160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144952352"/>
        <c:crosses val="autoZero"/>
        <c:auto val="1"/>
        <c:lblAlgn val="ctr"/>
        <c:lblOffset val="100"/>
        <c:noMultiLvlLbl val="1"/>
      </c:catAx>
      <c:valAx>
        <c:axId val="11449523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14516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F2A65A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Other/Non-binary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829</c:v>
                </c:pt>
                <c:pt idx="1">
                  <c:v>206</c:v>
                </c:pt>
                <c:pt idx="2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9D6D2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2302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2302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536</c:v>
                </c:pt>
                <c:pt idx="1">
                  <c:v>512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A9D6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427</c:v>
                </c:pt>
                <c:pt idx="1">
                  <c:v>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216</c:v>
                </c:pt>
                <c:pt idx="1">
                  <c:v>296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2686192"/>
        <c:axId val="1532687280"/>
      </c:barChart>
      <c:catAx>
        <c:axId val="1532686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87280"/>
        <c:crosses val="autoZero"/>
        <c:auto val="1"/>
        <c:lblAlgn val="ctr"/>
        <c:lblOffset val="100"/>
        <c:noMultiLvlLbl val="1"/>
      </c:catAx>
      <c:valAx>
        <c:axId val="1532687280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86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A9D6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Never</c:v>
                </c:pt>
                <c:pt idx="1">
                  <c:v>Rarely</c:v>
                </c:pt>
                <c:pt idx="2">
                  <c:v>Sometimes</c:v>
                </c:pt>
                <c:pt idx="3">
                  <c:v>Often</c:v>
                </c:pt>
                <c:pt idx="4">
                  <c:v>Not Applicable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</c:v>
                </c:pt>
                <c:pt idx="1">
                  <c:v>39</c:v>
                </c:pt>
                <c:pt idx="2">
                  <c:v>93</c:v>
                </c:pt>
                <c:pt idx="3">
                  <c:v>17</c:v>
                </c:pt>
                <c:pt idx="4">
                  <c:v>234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Never</c:v>
                </c:pt>
                <c:pt idx="1">
                  <c:v>Rarely</c:v>
                </c:pt>
                <c:pt idx="2">
                  <c:v>Sometimes</c:v>
                </c:pt>
                <c:pt idx="3">
                  <c:v>Often</c:v>
                </c:pt>
                <c:pt idx="4">
                  <c:v>Not Applicable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105</c:v>
                </c:pt>
                <c:pt idx="2">
                  <c:v>293</c:v>
                </c:pt>
                <c:pt idx="3">
                  <c:v>87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2689456"/>
        <c:axId val="1532693264"/>
      </c:barChart>
      <c:catAx>
        <c:axId val="1532689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93264"/>
        <c:crosses val="autoZero"/>
        <c:auto val="1"/>
        <c:lblAlgn val="ctr"/>
        <c:lblOffset val="100"/>
        <c:noMultiLvlLbl val="1"/>
      </c:catAx>
      <c:valAx>
        <c:axId val="153269326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89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A9D6D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1-5</c:v>
                </c:pt>
                <c:pt idx="1">
                  <c:v>6-25</c:v>
                </c:pt>
                <c:pt idx="2">
                  <c:v>26-100</c:v>
                </c:pt>
                <c:pt idx="3">
                  <c:v>100-500</c:v>
                </c:pt>
                <c:pt idx="4">
                  <c:v>500-1000</c:v>
                </c:pt>
                <c:pt idx="5">
                  <c:v>More than 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142</c:v>
                </c:pt>
                <c:pt idx="2">
                  <c:v>119</c:v>
                </c:pt>
                <c:pt idx="3">
                  <c:v>72</c:v>
                </c:pt>
                <c:pt idx="4">
                  <c:v>31</c:v>
                </c:pt>
                <c:pt idx="5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1-5</c:v>
                </c:pt>
                <c:pt idx="1">
                  <c:v>6-25</c:v>
                </c:pt>
                <c:pt idx="2">
                  <c:v>26-100</c:v>
                </c:pt>
                <c:pt idx="3">
                  <c:v>100-500</c:v>
                </c:pt>
                <c:pt idx="4">
                  <c:v>500-1000</c:v>
                </c:pt>
                <c:pt idx="5">
                  <c:v>More than 1000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</c:v>
                </c:pt>
                <c:pt idx="1">
                  <c:v>103</c:v>
                </c:pt>
                <c:pt idx="2">
                  <c:v>119</c:v>
                </c:pt>
                <c:pt idx="3">
                  <c:v>78</c:v>
                </c:pt>
                <c:pt idx="4">
                  <c:v>24</c:v>
                </c:pt>
                <c:pt idx="5">
                  <c:v>117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2678032"/>
        <c:axId val="1532678576"/>
      </c:barChart>
      <c:catAx>
        <c:axId val="1532678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78576"/>
        <c:crosses val="autoZero"/>
        <c:auto val="1"/>
        <c:lblAlgn val="ctr"/>
        <c:lblOffset val="100"/>
        <c:noMultiLvlLbl val="1"/>
      </c:catAx>
      <c:valAx>
        <c:axId val="153267857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78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A9D6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Don't know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165</c:v>
                </c:pt>
                <c:pt idx="2">
                  <c:v>151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Don't know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</c:v>
                </c:pt>
                <c:pt idx="1">
                  <c:v>141</c:v>
                </c:pt>
                <c:pt idx="2">
                  <c:v>249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32690000"/>
        <c:axId val="1532684016"/>
      </c:barChart>
      <c:catAx>
        <c:axId val="153269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84016"/>
        <c:crosses val="autoZero"/>
        <c:auto val="1"/>
        <c:lblAlgn val="ctr"/>
        <c:lblOffset val="100"/>
        <c:noMultiLvlLbl val="1"/>
      </c:catAx>
      <c:valAx>
        <c:axId val="1532684016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9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2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United States</c:v>
                </c:pt>
                <c:pt idx="1">
                  <c:v>United Kingdom</c:v>
                </c:pt>
                <c:pt idx="2">
                  <c:v>Canada</c:v>
                </c:pt>
                <c:pt idx="3">
                  <c:v>Germany</c:v>
                </c:pt>
                <c:pt idx="4">
                  <c:v>Netherlands</c:v>
                </c:pt>
                <c:pt idx="5">
                  <c:v>Australia</c:v>
                </c:pt>
                <c:pt idx="6">
                  <c:v>Ireland</c:v>
                </c:pt>
                <c:pt idx="7">
                  <c:v>France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644</c:v>
                </c:pt>
                <c:pt idx="1">
                  <c:v>153</c:v>
                </c:pt>
                <c:pt idx="2">
                  <c:v>64</c:v>
                </c:pt>
                <c:pt idx="3">
                  <c:v>37</c:v>
                </c:pt>
                <c:pt idx="4">
                  <c:v>18</c:v>
                </c:pt>
                <c:pt idx="5">
                  <c:v>18</c:v>
                </c:pt>
                <c:pt idx="6">
                  <c:v>13</c:v>
                </c:pt>
                <c:pt idx="7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532679664"/>
        <c:axId val="1532684560"/>
      </c:barChart>
      <c:catAx>
        <c:axId val="15326796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84560"/>
        <c:crosses val="autoZero"/>
        <c:auto val="1"/>
        <c:lblAlgn val="ctr"/>
        <c:lblOffset val="100"/>
        <c:noMultiLvlLbl val="1"/>
      </c:catAx>
      <c:valAx>
        <c:axId val="1532684560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F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2F"/>
                </a:solidFill>
                <a:latin typeface="Arial"/>
              </a:defRPr>
            </a:pPr>
            <a:endParaRPr lang="en-US"/>
          </a:p>
        </c:txPr>
        <c:crossAx val="1532679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43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Wellness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Mental Health &amp; Treatment-Seeking Patterns at XYZ Technical Solutions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822960" cy="36576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 employee survey responses  •  28 attributes
</a:t>
            </a: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Project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4538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8196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captures and why it matters to XYZ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140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779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corrupted values, messy categories &amp; missing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visualizations uncovering who needs support, and why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3342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00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patterns behind treatment-seeking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2943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6601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next steps for XYZ's wellness programs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49440" y="1508760"/>
            <a:ext cx="4663440" cy="4709160"/>
          </a:xfrm>
          <a:prstGeom prst="roundRect">
            <a:avLst>
              <a:gd name="adj" fmla="val 2353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2694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228600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Technical Solutions lost a valued employee to a health crisis. This analysis turns a public workplace mental-health survey into concrete, data-backed ideas for protecting the rest of the team.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9480" y="3977640"/>
            <a:ext cx="4069080" cy="18288"/>
          </a:xfrm>
          <a:prstGeom prst="rect">
            <a:avLst/>
          </a:prstGeom>
          <a:solidFill>
            <a:srgbClr val="D3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6948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229600" y="4206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across demographics, workplace policy, and treatment outcomes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losing an important employee to a health crisis, XYZ Technical Solutions wants to proactively identify employees who are in need of, or may need, mental health support — and design workplace programs that genuinely help.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surveyed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3383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51960" y="3611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sought treatment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383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0403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55280" y="3611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83880" y="4617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rate with family history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20.3% without)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workplace mental-health survey capturing demographics, workplace stressors, employer support programs, and whether the respondent has sought treatment.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2377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Country,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Factors: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size, remote work, tech company, self-employed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36210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Support: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36210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care options, wellness programs, anonymity, leave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242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Attitudes &amp; Outcomes: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42428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disclose, treatment, work interference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128016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5800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01168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1,048 respondents  •  28 original attributes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(cleaned): 18–65 yrs (median 31)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found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country: United States (61% of responses)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treatment (Yes / No)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survey data is never analysis-ready. Before any chart could be trusted, we walked through five deliberate cleaning steps — each is detailed on its own slide with the code that performed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Inspection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3317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missing values, duplicates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334670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18211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Outliers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182112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 (-1726, 99999999999) removed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1520" y="419709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3152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403250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Cleanup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403250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free-text spellings → 3 clean categories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88289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50474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4882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Labels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488289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auto-dates restored to employee-count ranges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7332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1520" y="58978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1520" y="5897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5733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57332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'Not Applicable' tagging, column pruning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Initial Data Inspection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 single value, we profiled the raw file to see exactly what needed fixing — shape, data types, missing values, and duplicate rows.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1,048 × 28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and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805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 / 236 / 916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 state / work_interfere / comments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found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Initial Data Inspection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pd.read_csv('employee_wellness_dataset.csv')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Missing values per column, worst first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df.isna().sum().sort_values(ascending=False).head(10)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print('Duplicate rows:', df.duplicated().sum())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Fixing Age Outliers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column contained impossible entries — negative ages and typos like 99999999999. We keep only realistic working ages (18-75) and treat the rest as missing rather than guessing a value.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-1726 to 1e11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min/max before 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flagged as invalid and set to NaN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18 - 65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range (median 31)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Fixing Age Outliers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print(sorted(df['Age'].unique())[:5],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sorted(df['Age'].unique())[-5:])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df['Age_clean'] = df['Age'].apply(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x if 18 &lt;= x &lt;= 75 else np.nan)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n_bad = df['Age'].apply(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x: not (18 &lt;= x &lt;= 75)).sum()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print('Outliers removed:', n_bad)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print(df['Age_clean'].describe())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8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41148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A3134"/>
                </a:solidFill>
                <a:latin typeface="Georgia"/>
              </a:defRPr>
            </a:pPr>
            <a:r>
              <a:t>Age Outliers: Boxplot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4A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mployee_age_boxplot_matc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040880" cy="45890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417320"/>
            <a:ext cx="3840480" cy="4754880"/>
          </a:xfrm>
          <a:prstGeom prst="roundRect">
            <a:avLst/>
          </a:prstGeom>
          <a:solidFill>
            <a:srgbClr val="F2F9F8"/>
          </a:solidFill>
          <a:ln>
            <a:solidFill>
              <a:srgbClr val="CD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559"/>
                </a:solidFill>
                <a:latin typeface="Arial"/>
              </a:defRPr>
            </a:pPr>
            <a: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8997"/>
                </a:solidFill>
                <a:latin typeface="Georgia"/>
              </a:defRPr>
            </a:pPr>
            <a:r>
              <a:t>Invalid ages were removed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4320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3134"/>
                </a:solidFill>
                <a:latin typeface="Arial"/>
              </a:defRPr>
            </a:pPr>
            <a:r>
              <a:t>The raw Age column contained impossible values. After cleaning, the reported age range is 18–65 years with a median of 31.</a:t>
            </a:r>
            <a:br/>
            <a:r>
              <a:t/>
            </a:r>
            <a:br/>
            <a:r>
              <a:t>The boxplot summarizes the cleaned distribution; its quartiles are estimated from the age-group counts shown in this presentation.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9B9D"/>
                </a:solidFill>
                <a:latin typeface="Arial"/>
              </a:defRPr>
            </a:pPr>
            <a:r>
              <a:t>Employee Wellness Analysis  |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Standardizing Gender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entry produced 37 distinct spellings for gender ('Male-ish', 'Cis Female', 'malr'...). A lookup-based function collapses these into three consistent, analyzable categories.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→ 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spellings collapsed into clean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829 / 206 / 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/ Other after cleaning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or dropped responses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Standardizing Gender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clean_gender(g):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str(g).strip().lower()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male_set = {'male','m','male-ish','maile',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'cis male','mal','make','man', ...}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female_set = {'female','f','cis female','woman',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'femake','trans woman', ...}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 in male_set:   return 'Male'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 in female_set: return 'Female'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'Other/Non-binary'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df['Gender_clean'] = df['Gender'].apply(clean_gender)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df['Gender_clean'].value_counts()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Repairing Corrupted Category Labels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'no_employees' categories were silently mangled by Excel's auto-date conversion: '6-25' became '25-Jun' and '1-5' became '5-Jan'. We restore the original labels and set a proper, ordered category so charts sort correctly.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corrupted by Excel auto-dates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'25-Jun' → '6-25'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'5-Jan' → '1-5'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dtype applied for correct sorting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Repairing Corrupted Category Labels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print(df['no_employees'].unique())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map_fix = {'25-Jun': '6-25', '5-Jan': '1-5'}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df['no_employees_clean'] = \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df['no_employees'].replace(map_fix)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order_size = ['1-5','6-25','26-100','100-500',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'500-1000','More than 1000']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df['no_employees_clean'] = pd.Categorical(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df['no_employees_clean'],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categories=order_size, ordered=True)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Missing Values &amp; Column Pruning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gaps needed different treatment depending on what they meant: self_employed was mode-imputed, a blank work_interfere means the condition doesn't apply (not truly missing), and comments was too sparse to use.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self_employed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missing → filled with mode ('No')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work_interfere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missing → labeled 'Not Applicable'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329184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4526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missing → column dropped entirely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Missing Values &amp; Column Pruning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df['self_employed'] = df['self_employed'] \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.replace('NA', np.nan).fillna('No')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df['work_interfere_clean'] = \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df['work_interfere'].fillna('Not Applicable')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df.drop(columns=['comments'])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print('Duplicate rows:', df.duplicated().sum())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young workforce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60% of respondents are between 25 and 34 years old — a career stage often marked by rising workload and career-establishment stress, making early wellness intervention especially valuable.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Age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= [17,24,29,34,39,44,49,75]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['18-24','25-29','30-34','35-39',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'40-44','45-49','50+']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df['age_bin'] = pd.cut(df['Age_clean'], bins=bins,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labels=labels)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df['age_bin'].value_counts() \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.reindex(labels).plot(kind='bar',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color='#028090')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ax.set_title('Age Distribution of Respondents')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ax.set_xlabel('Age Group'); ax.set_ylabel('Count')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1005840" y="1554480"/>
          <a:ext cx="62179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male-dominated sample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 in 5 respondents identify as male. Any gender-based comparisons in this dataset should be read with this imbalance in mind — findings may not generalize evenly across XYZ's own workforce.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Gender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clean_gender(g):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str(g).strip().lower()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 in male_set:   return 'Male'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 in female_set: return 'Female'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'Other/Non-binary'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df['Gender_clean'] = df['Gender'].apply(clean_gender)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df['Gender_clean'].value_counts().plot(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kind='bar', color='#00A896')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ax.set_title('Gender Distribution')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ax.set_xlabel(''); ax.set_ylabel('Count')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Treatment-Seeking Overall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1188720" y="155448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an even split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 of respondents (512 of 1,048) have already sought treatment for a mental health condition. This is not a fringe issue — it affects close to half the workforce sampled, reinforcing the need for organization-wide, not opt-in-only, support.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Treatment-Seeking Overall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df['treatment'].value_counts().plot(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kind='pie', autopct='%1.1f%%',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colors=['#A9D6D2','#028090'], ylabel='')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'Has the Employee Sought Mental Health Treatment?')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print(df['treatment'].value_counts(normalize=True))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History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predictor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a family history of mental illness seek treatment at 57.8%, nearly 3x the rate of those without a family history (20.3%). Of all factors studied, this shows the clearest link.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Family History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= pd.crosstab(df['family_history'], df['treatment'],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normalize='index') * 100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ct.plot(kind='bar', color=['#F2A65A','#028090'])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'Treatment Rate by Family History of Mental Illness')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ax.set_ylabel('% of group'); ax.set_xlabel('Family History')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print(ct.round(1))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Interference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warning sign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who say their condition interferes with work 'Sometimes' or 'Often' overwhelmingly report seeking treatment. Self-reported interference is a strong, easy-to-ask signal managers can act 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Work Interference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order_wi = ['Never','Rarely','Sometimes','Often',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'Not Applicable']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= pd.crosstab(df['work_interfere_clean'],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df['treatment']).reindex(order_wi)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ct.plot(kind='bar', color=['#F2A65A','#028090'])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ax.set_title('Treatment by Reported Work Interference')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ax.set_ylabel('Count'); ax.set_xlabel('')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Size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457200" y="1417320"/>
          <a:ext cx="71323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mild, structural effect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Treatment-seeking is fairly stable across company sizes, with a slightly higher share at very small companies (1-5 employees) — possibly reflecting less formal HR support infrastructure to fall back 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Company Size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map_fix = {'25-Jun':'6-25', '5-Jan':'1-5'}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df['no_employees_clean'] = \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df['no_employees'].replace(map_fix)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order_size = ['1-5','6-25','26-100','100-500',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'500-1000','More than 1000']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= pd.crosstab(df['no_employees_clean'],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df['treatment']).reindex(order_size)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ct.plot(kind='bar', color=['#F2A65A','#028090'])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ax.set_title('Treatment by Company Size')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ax.set_ylabel('Count'); ax.set_xlabel('')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Awareness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drives action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KNOW their employer offers mental-health benefits seek treatment at 62%, vs. just 36% among those who say 'Don't know'. Communicating what already exists may matter as much as adding new benefits.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Benefits Awareness vs. Treatment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 = pd.crosstab(df['benefits'], df['treatment'])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ct.plot(kind='bar', color=['#F2A65A','#028090'])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'Treatment by Awareness of Mental Health Benefits')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ax.set_ylabel('Count'); ax.set_xlabel('')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print((ct['Yes'] / ct.sum(axis=1) * 100).round(1))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Respondent Geography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548640" y="141732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41732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US/UK-heavy sample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respondents are from the United States and 15% from the United Kingdom. Healthcare-access and cultural differences across these regions may be confounding some of the patterns shown — validate against XYZ's own locations.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 Respondent Geography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0B2E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top_countries = df['Country'].value_counts().head(8)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= top_countries.plot(kind='barh', color='#028090')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ax.set_title('Top 8 Countries by Respondent Count')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ax.invert_yaxis()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notebook: Employee_Wellness_EDA.ipynb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4447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is the strongest predictor — 57.8% treatment rate vs. 20.3% without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0449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work interference tracks closely with treatment-seeking, making it a practical check-in cue.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6451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benefits drives usage more than existence of benefits alone (62% vs. 36%).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14447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respondents (48.9%) have already sought treatment — this is mainstream, not a fringe issue.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30449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 and remote-work status show only mild effects — culture matters more than structure.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7548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464515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skews young, male, and US/UK-based — validate findings against XYZ's actual workforce.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41148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XYZ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05840" cy="4572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3677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36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7218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benefits clearly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47218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alone raised treatment-seeking by up to 26 points — make existing programs visible.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9689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3230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managers on warning signs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243230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work interference is a strong, actionable cue for a supportive check-in.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57016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3924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proactive check-ins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39242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~49% already needing support, don't rely on opt-in programs alone.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51713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517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3525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anonymity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435254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disclose to supervisors/coworkers varies widely — offer confidential channels.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3F9F8"/>
          </a:solidFill>
          <a:ln w="12700">
            <a:solidFill>
              <a:srgbClr val="D3E9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477256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77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3126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XYZ's own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531266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analysis on XYZ's employee survey before finalizing any program.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A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Wellness Analysis  |  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822960" cy="36576"/>
          </a:xfrm>
          <a:prstGeom prst="rect">
            <a:avLst/>
          </a:prstGeom>
          <a:solidFill>
            <a:srgbClr val="F2A6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2523</Words>
  <Application>Microsoft Office PowerPoint</Application>
  <PresentationFormat>Widescreen</PresentationFormat>
  <Paragraphs>432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2026-09-13T06:27:23Z</dcterms:created>
  <dcterms:modified xsi:type="dcterms:W3CDTF">2026-09-23T05:01:09Z</dcterms:modified>
</cp:coreProperties>
</file>